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ACME Insight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7280"/>
                </a:solidFill>
                <a:latin typeface="Segoe UI"/>
              </a:defRPr>
            </a:pPr>
            <a:r>
              <a:t>Go-To-Market Strategy  |  Executive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B294"/>
                </a:solidFill>
                <a:latin typeface="Segoe UI"/>
              </a:defRPr>
            </a:pPr>
            <a:r>
              <a:t>Build where your users already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6126480"/>
            <a:ext cx="12191695" cy="731520"/>
          </a:xfrm>
          <a:prstGeom prst="round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623620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April 2026  |  GTM Strategy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362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PRIME Framework  |  AI GTM Skill Library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4754880"/>
            <a:ext cx="182880" cy="182880"/>
          </a:xfrm>
          <a:prstGeom prst="ellipse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37360" y="4754880"/>
            <a:ext cx="182880" cy="1828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57400" y="4754880"/>
            <a:ext cx="182880" cy="182880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 Semibold"/>
              </a:defRPr>
            </a:pPr>
            <a:r>
              <a:t>The $12B Extensibility Opportunity Is Ours to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POSITIONING  AND  READINESS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MARKET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$47B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Segoe UI"/>
              </a:defRPr>
            </a:pPr>
            <a:r>
              <a:t>Total enterprise AI platform market (TAM)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$12B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377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Segoe UI"/>
              </a:defRPr>
            </a:pPr>
            <a:r>
              <a:t>AI extensibility segment addressable (SAM)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$1.8B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Segoe UI"/>
              </a:defRPr>
            </a:pPr>
            <a:r>
              <a:t>Year 1 through ACME enterprise base (SOM)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3035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51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5022"/>
                </a:solidFill>
                <a:latin typeface="Segoe UI"/>
              </a:defRPr>
            </a:pPr>
            <a: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  68% enterprise AI adoption, customization is #1 unmet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2803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  Competitors 6-12 months behind on enterprise extensibility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8406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  ACME Insight Studio seats create captive distribution channel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188720"/>
            <a:ext cx="56692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POSITIONING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6459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Segoe UI"/>
              </a:defRPr>
            </a:pPr>
            <a:r>
              <a:t>Ship AI agents that reach 200M+ users</a:t>
            </a:r>
            <a:br/>
            <a:r>
              <a:t>through the apps they use every 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200400"/>
            <a:ext cx="5669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KEY DIFFERENTIATORS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Company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611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Native ACME Graph, enterprise identity,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23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Company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Already where users work: Outlook, Teams, Word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34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Company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3x enterprise base, deeper LOB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846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2D91"/>
                </a:solidFill>
                <a:latin typeface="Segoe UI"/>
              </a:defRPr>
            </a:pPr>
            <a:r>
              <a:t>vs. Build custom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846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10x faster with Copilot Studio + connectors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532120"/>
            <a:ext cx="11247120" cy="10515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596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COMPETITIVE LANDSCAPE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5022"/>
                </a:solidFill>
                <a:latin typeface="Segoe UI"/>
              </a:defRPr>
            </a:pPr>
            <a:r>
              <a:t>Threat: 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900"/>
                </a:solidFill>
                <a:latin typeface="Segoe UI"/>
              </a:defRPr>
            </a:pPr>
            <a:r>
              <a:t>Threat: MED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900"/>
                </a:solidFill>
                <a:latin typeface="Segoe UI"/>
              </a:defRPr>
            </a:pPr>
            <a:r>
              <a:t>Threat: 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5870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Company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6144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900"/>
                </a:solidFill>
                <a:latin typeface="Segoe UI"/>
              </a:defRPr>
            </a:pPr>
            <a:r>
              <a:t>Threat: MED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 Semibold"/>
              </a:defRPr>
            </a:pPr>
            <a:r>
              <a:t>500 Extensions and $120M Pipeline in 6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MOTION  AND 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5176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Extensions</a:t>
            </a:r>
            <a:br/>
            <a:r>
              <a:t>(6-month target)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188720"/>
            <a:ext cx="2651760" cy="50800"/>
          </a:xfrm>
          <a:prstGeom prst="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294"/>
                </a:solidFill>
                <a:latin typeface="Segoe UI"/>
              </a:defRPr>
            </a:pPr>
            <a:r>
              <a:t>2,000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Active Developers</a:t>
            </a:r>
            <a:br/>
            <a:r>
              <a:t>(MAD)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651760" cy="508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5C2D91"/>
                </a:solidFill>
                <a:latin typeface="Segoe UI"/>
              </a:defRPr>
            </a:pPr>
            <a:r>
              <a:t>5,000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Enterprise Orgs</a:t>
            </a:r>
            <a:br/>
            <a:r>
              <a:t>Using Extensions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188720"/>
            <a:ext cx="26517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1188720"/>
            <a:ext cx="265176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325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  <a:latin typeface="Segoe UI"/>
              </a:defRPr>
            </a:pPr>
            <a:r>
              <a:t>$120M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783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Partner Co-Sell</a:t>
            </a:r>
            <a:br/>
            <a:r>
              <a:t>Pipeline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68880"/>
            <a:ext cx="5486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CHANNEL 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926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Developer Relations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40% contribution  |  $2.5M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2999232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00400" y="2999232"/>
            <a:ext cx="2099462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4747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Partner Co-Sell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67588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30% contribution  |  $3.0M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3547872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3547872"/>
            <a:ext cx="1587398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0233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Digital Marketing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2452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20% contribution  |  $1.5M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096512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200400" y="4096512"/>
            <a:ext cx="1049731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571999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Segoe UI"/>
              </a:defRPr>
            </a:pPr>
            <a:r>
              <a:t>Events &amp; Conferences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773167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10% contribution  |  $1.0M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4645151"/>
            <a:ext cx="2560320" cy="164592"/>
          </a:xfrm>
          <a:prstGeom prst="round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200400" y="4645151"/>
            <a:ext cx="512063" cy="164592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17920" y="2468880"/>
            <a:ext cx="54406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SUCCESS METRICS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2926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Monthly Active Developers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29260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2,000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9260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by Month 6  (Weekly)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33649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Extension Publish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3649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20/week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33649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steady state  (Weekly)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80390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Time-to-First-Extension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3803904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&lt; 4 hrs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380390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developer avg  (Weekly)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424281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D30 User Retention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4242816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&gt; 40%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4242816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extension users  (Monthly)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6817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Segoe UI"/>
              </a:defRPr>
            </a:pPr>
            <a:r>
              <a:t>Co-Sell Attach Rate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68172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468172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of Copilot deals  (Monthly)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55778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PARTNER ECOSYSTEM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5870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20 ISV Partners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144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Building launch-day extensions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0559" y="5870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5 SI Partners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80559" y="6144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Offering implementation services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9" y="5870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 Case Studies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9" y="6144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Enterprise early adopter proof points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 Semibold"/>
              </a:defRPr>
            </a:pPr>
            <a:r>
              <a:t>90-Day Launch Sequence with Four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EXECUTION 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381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965960"/>
            <a:ext cx="320040" cy="32004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68880"/>
            <a:ext cx="2697480" cy="635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8D4"/>
                </a:solidFill>
                <a:latin typeface="Segoe UI"/>
              </a:defRPr>
            </a:pPr>
            <a:r>
              <a:t>PRE-LAUNCH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Weeks -4 to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Finalize messaging + press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Sales enablement 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ISV extensions certified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Developer docs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Internal readiness training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251460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Go / No-Go 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4434840" y="1965960"/>
            <a:ext cx="320040" cy="320040"/>
          </a:xfrm>
          <a:prstGeom prst="ellipse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3756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37560" y="2468880"/>
            <a:ext cx="2697480" cy="63500"/>
          </a:xfrm>
          <a:prstGeom prst="round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25022"/>
                </a:solidFill>
                <a:latin typeface="Segoe UI"/>
              </a:defRPr>
            </a:pPr>
            <a:r>
              <a:t>LAUNCH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Days 1-5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Mon: Press + blog + social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Tue: CEO keynote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Wed: Dev livestream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Thu: SI partner launch 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Fri: First metrics review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4754880"/>
            <a:ext cx="2514600" cy="457200"/>
          </a:xfrm>
          <a:prstGeom prst="round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50+ Extensions Published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0" y="1965960"/>
            <a:ext cx="320040" cy="320040"/>
          </a:xfrm>
          <a:prstGeom prst="ellipse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2468880"/>
            <a:ext cx="2697480" cy="6350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294"/>
                </a:solidFill>
                <a:latin typeface="Segoe UI"/>
              </a:defRPr>
            </a:pPr>
            <a:r>
              <a:t>POST-LAUNCH M1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Days 8-30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Weekly metrics cadence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Community activation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First hackathon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Bug triage + iteration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Partner feedback loop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754880"/>
            <a:ext cx="2514600" cy="457200"/>
          </a:xfrm>
          <a:prstGeom prst="roundRect">
            <a:avLst/>
          </a:prstGeom>
          <a:solidFill>
            <a:srgbClr val="00B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200 MAD, Sentiment &gt; 4.0</a:t>
            </a:r>
          </a:p>
        </p:txBody>
      </p:sp>
      <p:sp>
        <p:nvSpPr>
          <p:cNvPr id="42" name="Oval 41"/>
          <p:cNvSpPr/>
          <p:nvPr/>
        </p:nvSpPr>
        <p:spPr>
          <a:xfrm>
            <a:off x="10195560" y="1965960"/>
            <a:ext cx="320040" cy="32004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98280" y="2468880"/>
            <a:ext cx="2697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98280" y="2468880"/>
            <a:ext cx="2697480" cy="63500"/>
          </a:xfrm>
          <a:prstGeom prst="round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25786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C2D91"/>
                </a:solidFill>
                <a:latin typeface="Segoe UI"/>
              </a:defRPr>
            </a:pPr>
            <a:r>
              <a:t>SCALE (M2-M3)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2834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Days 31-90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3108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Regional expansion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41985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Certification program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37307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Phase 2 investment case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Advanced partner tiers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352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Segoe UI"/>
              </a:defRPr>
            </a:pPr>
            <a:r>
              <a:t>  Competitive response plan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89720" y="4754880"/>
            <a:ext cx="2514600" cy="457200"/>
          </a:xfrm>
          <a:prstGeom prst="round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5440" y="47731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GATE: 1,200 MAD, $40M Pipeline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577840"/>
            <a:ext cx="11247120" cy="10058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56509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294"/>
                </a:solidFill>
                <a:latin typeface="Segoe UI"/>
              </a:defRPr>
            </a:pPr>
            <a:r>
              <a:t>OWNERSHIP (RACI)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Messaging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PMM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Dev Experience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7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DevRel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Partner Activation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Partnerships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89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Sales Enablement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Enablement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75520" y="59253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Launch Execution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75520" y="6153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R: GTM Lead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