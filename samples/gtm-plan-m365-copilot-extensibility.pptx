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t>M365 Copilot 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7280"/>
                </a:solidFill>
                <a:latin typeface="Segoe UI"/>
              </a:defRPr>
            </a:pPr>
            <a:r>
              <a:t>Go-To-Market Strategy  |  Executive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B294"/>
                </a:solidFill>
                <a:latin typeface="Segoe UI"/>
              </a:defRPr>
            </a:pPr>
            <a:r>
              <a:t>Build where your users already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126480"/>
            <a:ext cx="12191695" cy="73152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62362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April 2026  |  GTM Strategy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36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PRIME Framework  |  AI GTM Skill Library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17319" y="4754880"/>
            <a:ext cx="182880" cy="18288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37360" y="4754880"/>
            <a:ext cx="182880" cy="18288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57400" y="4754880"/>
            <a:ext cx="182880" cy="18288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The $12B Extensibility Opportunity Is Ours to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POSITIONING  AND 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MARKET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$47B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Total enterprise AI platform market (TAM)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$12B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AI extensibility segment addressable (SAM)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$1.8B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Year 1 through M365 commercial base (SOM)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5303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5022"/>
                </a:solidFill>
                <a:latin typeface="Segoe UI"/>
              </a:defRPr>
            </a:pPr>
            <a: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  68% enterprise AI adoption, customization is #1 unmet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280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  Competitors 6-12 months behind on enterprise extensibility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84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  M365 Copilot seats create captive distribution channel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18872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POSITIONING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459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Segoe UI"/>
              </a:defRPr>
            </a:pPr>
            <a:r>
              <a:t>Ship AI agents that reach 400M+ users</a:t>
            </a:r>
            <a:br/>
            <a:r>
              <a:t>through the apps they use every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200400"/>
            <a:ext cx="5669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KEY DIFFERENTIATORS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2D91"/>
                </a:solidFill>
                <a:latin typeface="Segoe UI"/>
              </a:defRPr>
            </a:pPr>
            <a:r>
              <a:t>vs. Company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Native M365 Graph, enterprise identity,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2D91"/>
                </a:solidFill>
                <a:latin typeface="Segoe UI"/>
              </a:defRPr>
            </a:pPr>
            <a:r>
              <a:t>vs. Company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Already where users work: Outlook, Teams, 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2D91"/>
                </a:solidFill>
                <a:latin typeface="Segoe UI"/>
              </a:defRPr>
            </a:pPr>
            <a:r>
              <a:t>vs. Company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3x enterprise base, deeper LOB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846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2D91"/>
                </a:solidFill>
                <a:latin typeface="Segoe UI"/>
              </a:defRPr>
            </a:pPr>
            <a:r>
              <a:t>vs. Build custom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10x faster with Copilot Studio + connectors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532120"/>
            <a:ext cx="11247120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96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COMPETITIVE LANDSCAPE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70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Company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5022"/>
                </a:solidFill>
                <a:latin typeface="Segoe UI"/>
              </a:defRPr>
            </a:pPr>
            <a:r>
              <a:t>Threat: 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870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Company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900"/>
                </a:solidFill>
                <a:latin typeface="Segoe UI"/>
              </a:defRPr>
            </a:pPr>
            <a:r>
              <a:t>Threat: 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870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Company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900"/>
                </a:solidFill>
                <a:latin typeface="Segoe UI"/>
              </a:defRPr>
            </a:pPr>
            <a:r>
              <a:t>Threat: 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870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Company 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900"/>
                </a:solidFill>
                <a:latin typeface="Segoe UI"/>
              </a:defRPr>
            </a:pPr>
            <a:r>
              <a:t>Threat: 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500 Extensions and $120M Pipeline in 6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MOTION  AND 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5176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Extensions</a:t>
            </a:r>
            <a:br/>
            <a:r>
              <a:t>(6-month target)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651760" cy="5080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25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294"/>
                </a:solidFill>
                <a:latin typeface="Segoe UI"/>
              </a:defRPr>
            </a:pPr>
            <a:r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Active Developers</a:t>
            </a:r>
            <a:br/>
            <a:r>
              <a:t>(MAD)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651760" cy="5080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C2D91"/>
                </a:solidFill>
                <a:latin typeface="Segoe UI"/>
              </a:defRPr>
            </a:pPr>
            <a:r>
              <a:t>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Enterprise Orgs</a:t>
            </a:r>
            <a:br/>
            <a:r>
              <a:t>Using Extensions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18872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188720"/>
            <a:ext cx="265176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325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  <a:latin typeface="Segoe UI"/>
              </a:defRPr>
            </a:pPr>
            <a:r>
              <a:t>$120M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Partner Co-Sell</a:t>
            </a:r>
            <a:br/>
            <a:r>
              <a:t>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46888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CHANNEL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26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Segoe UI"/>
              </a:defRPr>
            </a:pPr>
            <a:r>
              <a:t>Developer Relations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1272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40% contribution  |  $2.5M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2999232"/>
            <a:ext cx="2560320" cy="16459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0" y="2999232"/>
            <a:ext cx="2099462" cy="16459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474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Segoe UI"/>
              </a:defRPr>
            </a:pPr>
            <a:r>
              <a:t>Partner Co-Sell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758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30% contribution  |  $3.0M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3547872"/>
            <a:ext cx="2560320" cy="16459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00400" y="3547872"/>
            <a:ext cx="1587398" cy="16459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23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Segoe UI"/>
              </a:defRPr>
            </a:pPr>
            <a:r>
              <a:t>Digital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245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20% contribution  |  $1.5M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096512"/>
            <a:ext cx="2560320" cy="16459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00400" y="4096512"/>
            <a:ext cx="1049731" cy="16459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57199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Segoe UI"/>
              </a:defRPr>
            </a:pPr>
            <a:r>
              <a:t>Events &amp; Conferences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7316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10% contribution  |  $1.0M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4645151"/>
            <a:ext cx="2560320" cy="16459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00400" y="4645151"/>
            <a:ext cx="512063" cy="16459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17920" y="2468880"/>
            <a:ext cx="54406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SUCCESS 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926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Monthly Active Developers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926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2,000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2926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by Month 6  (Weekly)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Extension Publish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3649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20/week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3364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steady state  (Weekly)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38039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Time-to-First-Extension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380390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&lt; 4 hrs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380390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developer avg  (Weekly)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24281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D30 User Retention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424281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&gt; 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424281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extension users  (Monthly)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681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Co-Sell Attach 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6817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15%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6817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of Copilot deals  (Monthly)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5577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PARTNER ECOSYSTEM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870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20 ISV Partners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144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Building launch-day extensions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59" y="5870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 SI Partners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59" y="6144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Offering implementation services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599" y="5870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 Case Studies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599" y="6144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Enterprise early adopter proof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90-Day Launch Sequence with Four Decision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EXECUTION 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15600" cy="381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965960"/>
            <a:ext cx="320040" cy="3200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2697480" cy="635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78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PRE-LAUNCH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Weeks -4 to 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Finalize messaging + 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198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Sales enablement 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ISV extensions certified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Developer docs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Internal readiness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25146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GATE: Go / No-Go Review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1965960"/>
            <a:ext cx="320040" cy="320040"/>
          </a:xfrm>
          <a:prstGeom prst="ellipse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7560" y="246888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37560" y="2468880"/>
            <a:ext cx="2697480" cy="63500"/>
          </a:xfrm>
          <a:prstGeom prst="round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578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5022"/>
                </a:solidFill>
                <a:latin typeface="Segoe UI"/>
              </a:defRPr>
            </a:pPr>
            <a:r>
              <a:t>LAUNCH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Days 1-5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Mon: Press + blog + social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4198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Tue: CEO keynote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Wed: Dev livestream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Thu: SI partner launch 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Fri: First metrics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754880"/>
            <a:ext cx="2514600" cy="457200"/>
          </a:xfrm>
          <a:prstGeom prst="round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GATE: 50+ Extensions Published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0" y="1965960"/>
            <a:ext cx="320040" cy="32004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246888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2468880"/>
            <a:ext cx="2697480" cy="6350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578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294"/>
                </a:solidFill>
                <a:latin typeface="Segoe UI"/>
              </a:defRPr>
            </a:pPr>
            <a:r>
              <a:t>POST-LAUNCH M1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Days 8-30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Weekly metrics cadence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4198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Community activation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First hackathon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Bug triage + iteration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Partner feedback loop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754880"/>
            <a:ext cx="2514600" cy="45720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GATE: 200 MAD, Sentiment &gt; 4.0</a:t>
            </a:r>
          </a:p>
        </p:txBody>
      </p:sp>
      <p:sp>
        <p:nvSpPr>
          <p:cNvPr id="42" name="Oval 41"/>
          <p:cNvSpPr/>
          <p:nvPr/>
        </p:nvSpPr>
        <p:spPr>
          <a:xfrm>
            <a:off x="10195560" y="1965960"/>
            <a:ext cx="320040" cy="32004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98280" y="246888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98280" y="2468880"/>
            <a:ext cx="2697480" cy="63500"/>
          </a:xfrm>
          <a:prstGeom prst="round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2578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C2D91"/>
                </a:solidFill>
                <a:latin typeface="Segoe UI"/>
              </a:defRPr>
            </a:pPr>
            <a:r>
              <a:t>SCALE (M2-M3)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Days 31-90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Regional expansion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4198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Certification program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Phase 2 investment case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Advanced partner tiers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Competitive response plan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9720" y="4754880"/>
            <a:ext cx="2514600" cy="457200"/>
          </a:xfrm>
          <a:prstGeom prst="round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GATE: 1,200 MAD, $40M Pipeline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577840"/>
            <a:ext cx="11247120" cy="10058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650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OWNERSHIP (RACI)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Messaging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153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R: PMM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Dev Experience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17520" y="6153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R: DevRel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Partner Activation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0" y="6153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R: Partnerships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Sales Enablement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0" y="6153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R: Enablement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Launch Execution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6153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R: GTM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